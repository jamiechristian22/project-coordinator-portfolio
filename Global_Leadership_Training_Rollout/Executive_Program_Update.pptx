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Completion %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North America</c:v>
                </c:pt>
                <c:pt idx="1">
                  <c:v>EMEA</c:v>
                </c:pt>
                <c:pt idx="2">
                  <c:v>APAC</c:v>
                </c:pt>
                <c:pt idx="3">
                  <c:v>LATAM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98.5</c:v>
                </c:pt>
                <c:pt idx="1">
                  <c:v>97.4</c:v>
                </c:pt>
                <c:pt idx="2">
                  <c:v>97.1</c:v>
                </c:pt>
                <c:pt idx="3">
                  <c:v>97.0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9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Curriculum</c:v>
                </c:pt>
                <c:pt idx="1">
                  <c:v>Localization</c:v>
                </c:pt>
                <c:pt idx="2">
                  <c:v>LMS</c:v>
                </c:pt>
                <c:pt idx="3">
                  <c:v>Delivery</c:v>
                </c:pt>
                <c:pt idx="4">
                  <c:v>Comms</c:v>
                </c:pt>
                <c:pt idx="5">
                  <c:v>Evaluation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28000</c:v>
                </c:pt>
                <c:pt idx="1">
                  <c:v>22000</c:v>
                </c:pt>
                <c:pt idx="2">
                  <c:v>14000</c:v>
                </c:pt>
                <c:pt idx="3">
                  <c:v>42000</c:v>
                </c:pt>
                <c:pt idx="4">
                  <c:v>12000</c:v>
                </c:pt>
                <c:pt idx="5">
                  <c:v>10000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Curriculum</c:v>
                </c:pt>
                <c:pt idx="1">
                  <c:v>Localization</c:v>
                </c:pt>
                <c:pt idx="2">
                  <c:v>LMS</c:v>
                </c:pt>
                <c:pt idx="3">
                  <c:v>Delivery</c:v>
                </c:pt>
                <c:pt idx="4">
                  <c:v>Comms</c:v>
                </c:pt>
                <c:pt idx="5">
                  <c:v>Evaluation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27200</c:v>
                </c:pt>
                <c:pt idx="1">
                  <c:v>23150</c:v>
                </c:pt>
                <c:pt idx="2">
                  <c:v>13750</c:v>
                </c:pt>
                <c:pt idx="3">
                  <c:v>40800</c:v>
                </c:pt>
                <c:pt idx="4">
                  <c:v>11600</c:v>
                </c:pt>
                <c:pt idx="5">
                  <c:v>9800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Completions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145</c:v>
                </c:pt>
                <c:pt idx="1">
                  <c:v>188</c:v>
                </c:pt>
                <c:pt idx="2">
                  <c:v>218</c:v>
                </c:pt>
                <c:pt idx="3">
                  <c:v>246</c:v>
                </c:pt>
                <c:pt idx="4">
                  <c:v>278</c:v>
                </c:pt>
                <c:pt idx="5">
                  <c:v>307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Global Leadership Training Rollout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Executive Program Update | Simulated Portfolio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931920"/>
            <a:ext cx="8503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Project coordination across North America, EMEA, APAC, and LATAM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65D"/>
                </a:solidFill>
              </a:defRPr>
            </a:pPr>
            <a:r>
              <a:t>Executive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23232"/>
                </a:solidFill>
              </a:defRPr>
            </a:pPr>
            <a:r>
              <a:t>Program closed Green across schedule, scope, quality, and budget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2011680" cy="91440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1,240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Target Leaders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371600"/>
            <a:ext cx="2011680" cy="91440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1,132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Completed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80" y="1371600"/>
            <a:ext cx="2011680" cy="91440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96.6%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Attendance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371600"/>
            <a:ext cx="2011680" cy="91440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97.6%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Completion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1371600"/>
            <a:ext cx="1737360" cy="91440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4.6/5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Satisfaction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2926080"/>
            <a:ext cx="2286000" cy="96012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45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Sessions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39" y="2926080"/>
            <a:ext cx="2286000" cy="96012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100%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Milestones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926080"/>
            <a:ext cx="2286000" cy="96012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+1.3%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Budget Variance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2926080"/>
            <a:ext cx="2011680" cy="96012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0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Open Issues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87878"/>
                </a:solidFill>
              </a:defRPr>
            </a:pPr>
            <a:r>
              <a:t>Simulated portfolio case study | Global Leadership Training Rollout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65D"/>
                </a:solidFill>
              </a:defRPr>
            </a:pPr>
            <a:r>
              <a:t>Scope &amp; Operating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789920" cy="658368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7365D"/>
                </a:solidFill>
              </a:defRPr>
            </a:pPr>
            <a:r>
              <a:t>Governance</a:t>
            </a:r>
          </a:p>
          <a:p>
            <a:pPr>
              <a:defRPr sz="900">
                <a:solidFill>
                  <a:srgbClr val="323232"/>
                </a:solidFill>
              </a:defRPr>
            </a:pPr>
            <a:r>
              <a:t>Charter, decisions, RAID, change control, executive updates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66543"/>
            <a:ext cx="10789920" cy="658368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7365D"/>
                </a:solidFill>
              </a:defRPr>
            </a:pPr>
            <a:r>
              <a:t>Content</a:t>
            </a:r>
          </a:p>
          <a:p>
            <a:pPr>
              <a:defRPr sz="900">
                <a:solidFill>
                  <a:srgbClr val="323232"/>
                </a:solidFill>
              </a:defRPr>
            </a:pPr>
            <a:r>
              <a:t>Curriculum readiness and controlled regional localization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52927"/>
            <a:ext cx="10789920" cy="658368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7365D"/>
                </a:solidFill>
              </a:defRPr>
            </a:pPr>
            <a:r>
              <a:t>Technology</a:t>
            </a:r>
          </a:p>
          <a:p>
            <a:pPr>
              <a:defRPr sz="900">
                <a:solidFill>
                  <a:srgbClr val="323232"/>
                </a:solidFill>
              </a:defRPr>
            </a:pPr>
            <a:r>
              <a:t>LMS configuration, enrollment logic, reporting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39311"/>
            <a:ext cx="10789920" cy="658368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7365D"/>
                </a:solidFill>
              </a:defRPr>
            </a:pPr>
            <a:r>
              <a:t>Delivery</a:t>
            </a:r>
          </a:p>
          <a:p>
            <a:pPr>
              <a:defRPr sz="900">
                <a:solidFill>
                  <a:srgbClr val="323232"/>
                </a:solidFill>
              </a:defRPr>
            </a:pPr>
            <a:r>
              <a:t>Facilitator coverage, regional schedules, cohort execution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425696"/>
            <a:ext cx="10789920" cy="658368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7365D"/>
                </a:solidFill>
              </a:defRPr>
            </a:pPr>
            <a:r>
              <a:t>Communications</a:t>
            </a:r>
          </a:p>
          <a:p>
            <a:pPr>
              <a:defRPr sz="900">
                <a:solidFill>
                  <a:srgbClr val="323232"/>
                </a:solidFill>
              </a:defRPr>
            </a:pPr>
            <a:r>
              <a:t>Participant messages, manager toolkit, reminders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212080"/>
            <a:ext cx="10789920" cy="658368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7365D"/>
                </a:solidFill>
              </a:defRPr>
            </a:pPr>
            <a:r>
              <a:t>Analytics</a:t>
            </a:r>
          </a:p>
          <a:p>
            <a:pPr>
              <a:defRPr sz="900">
                <a:solidFill>
                  <a:srgbClr val="323232"/>
                </a:solidFill>
              </a:defRPr>
            </a:pPr>
            <a:r>
              <a:t>Attendance, completion, satisfaction, milestone and budget reporting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87878"/>
                </a:solidFill>
              </a:defRPr>
            </a:pPr>
            <a:r>
              <a:t>Simulated portfolio case study | Global Leadership Training Rollout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65D"/>
                </a:solidFill>
              </a:defRPr>
            </a:pPr>
            <a:r>
              <a:t>Regional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23232"/>
                </a:solidFill>
              </a:defRPr>
            </a:pPr>
            <a:r>
              <a:t>All four regions exceeded the simulated 95% completion threshold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22960" y="1371600"/>
          <a:ext cx="667512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229600" y="1645920"/>
            <a:ext cx="2377440" cy="96012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98.5%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North America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2834640"/>
            <a:ext cx="2377440" cy="96012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97.4%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EMEA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4023360"/>
            <a:ext cx="2377440" cy="96012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97%+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APAC / LATAM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87878"/>
                </a:solidFill>
              </a:defRPr>
            </a:pPr>
            <a:r>
              <a:t>Simulated portfolio case study | Global Leadership Training Rollout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65D"/>
                </a:solidFill>
              </a:defRPr>
            </a:pPr>
            <a:r>
              <a:t>Milestone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Charter Approved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0" y="1325880"/>
            <a:ext cx="1828800" cy="41148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7365D"/>
                </a:solidFill>
              </a:defRPr>
            </a:pPr>
            <a:r>
              <a:t>On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Curriculum Baseline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2011680"/>
            <a:ext cx="1828800" cy="41148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7365D"/>
                </a:solidFill>
              </a:defRPr>
            </a:pPr>
            <a:r>
              <a:t>On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Localization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2697480"/>
            <a:ext cx="1828800" cy="41148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7365D"/>
                </a:solidFill>
              </a:defRPr>
            </a:pPr>
            <a:r>
              <a:t>1 day 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90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LMS Ready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3383280"/>
            <a:ext cx="1828800" cy="41148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7365D"/>
                </a:solidFill>
              </a:defRPr>
            </a:pPr>
            <a:r>
              <a:t>1 day early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Regional Delivery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4069080"/>
            <a:ext cx="1828800" cy="41148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7365D"/>
                </a:solidFill>
              </a:defRPr>
            </a:pPr>
            <a:r>
              <a:t>On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Executive Closeout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0" y="4754880"/>
            <a:ext cx="1828800" cy="41148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7365D"/>
                </a:solidFill>
              </a:defRPr>
            </a:pPr>
            <a:r>
              <a:t>On 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2011680"/>
            <a:ext cx="2011680" cy="100584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100%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Milestones Complete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3474720"/>
            <a:ext cx="2011680" cy="100584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On Time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Final Closeout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87878"/>
                </a:solidFill>
              </a:defRPr>
            </a:pPr>
            <a:r>
              <a:t>Simulated portfolio case study | Global Leadership Training Rollout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65D"/>
                </a:solidFill>
              </a:defRPr>
            </a:pPr>
            <a:r>
              <a:t>RAID &amp; Issue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23232"/>
                </a:solidFill>
              </a:defRPr>
            </a:pPr>
            <a:r>
              <a:t>Highest-severity items were closed before program closeout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10789920" cy="621792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17365D"/>
                </a:solidFill>
              </a:defRPr>
            </a:pPr>
            <a:r>
              <a:t>I-01  |  Score 20  |  Closed</a:t>
            </a:r>
          </a:p>
          <a:p>
            <a:pPr>
              <a:defRPr sz="900">
                <a:solidFill>
                  <a:srgbClr val="323232"/>
                </a:solidFill>
              </a:defRPr>
            </a:pPr>
            <a:r>
              <a:t>LMS enrollment omission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10789920" cy="621792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17365D"/>
                </a:solidFill>
              </a:defRPr>
            </a:pPr>
            <a:r>
              <a:t>D-01  |  Score 16  |  Complete</a:t>
            </a:r>
          </a:p>
          <a:p>
            <a:pPr>
              <a:defRPr sz="900">
                <a:solidFill>
                  <a:srgbClr val="323232"/>
                </a:solidFill>
              </a:defRPr>
            </a:pPr>
            <a:r>
              <a:t>Regional HR sign-off dependency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10789920" cy="621792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17365D"/>
                </a:solidFill>
              </a:defRPr>
            </a:pPr>
            <a:r>
              <a:t>R-02  |  Score 15  |  Closed</a:t>
            </a:r>
          </a:p>
          <a:p>
            <a:pPr>
              <a:defRPr sz="900">
                <a:solidFill>
                  <a:srgbClr val="323232"/>
                </a:solidFill>
              </a:defRPr>
            </a:pPr>
            <a:r>
              <a:t>Localization delay risk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94760"/>
            <a:ext cx="10789920" cy="621792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17365D"/>
                </a:solidFill>
              </a:defRPr>
            </a:pPr>
            <a:r>
              <a:t>R-01  |  Score 12  |  Closed</a:t>
            </a:r>
          </a:p>
          <a:p>
            <a:pPr>
              <a:defRPr sz="900">
                <a:solidFill>
                  <a:srgbClr val="323232"/>
                </a:solidFill>
              </a:defRPr>
            </a:pPr>
            <a:r>
              <a:t>Time-zone attendance risk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17720"/>
            <a:ext cx="10789920" cy="621792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17365D"/>
                </a:solidFill>
              </a:defRPr>
            </a:pPr>
            <a:r>
              <a:t>R-03  |  Score 12  |  Closed</a:t>
            </a:r>
          </a:p>
          <a:p>
            <a:pPr>
              <a:defRPr sz="900">
                <a:solidFill>
                  <a:srgbClr val="323232"/>
                </a:solidFill>
              </a:defRPr>
            </a:pPr>
            <a:r>
              <a:t>Facilitator availability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87878"/>
                </a:solidFill>
              </a:defRPr>
            </a:pPr>
            <a:r>
              <a:t>Simulated portfolio case study | Global Leadership Training Rollout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65D"/>
                </a:solidFill>
              </a:defRPr>
            </a:pPr>
            <a:r>
              <a:t>Budget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23232"/>
                </a:solidFill>
              </a:defRPr>
            </a:pPr>
            <a:r>
              <a:t>Actual program cost finished below the simulated baseline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371600"/>
          <a:ext cx="7498079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686800" y="1737360"/>
            <a:ext cx="2194560" cy="91440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$128K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Baseline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2926080"/>
            <a:ext cx="2194560" cy="91440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$126.3K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Actual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0" y="4114800"/>
            <a:ext cx="2194560" cy="91440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$1.7K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Favorable Variance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87878"/>
                </a:solidFill>
              </a:defRPr>
            </a:pPr>
            <a:r>
              <a:t>Simulated portfolio case study | Global Leadership Training Rollout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65D"/>
                </a:solidFill>
              </a:defRPr>
            </a:pPr>
            <a:r>
              <a:t>Delivery &amp; Participation Trend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371600"/>
          <a:ext cx="713232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503920" y="1737360"/>
            <a:ext cx="2377440" cy="96012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145 completions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Week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03920" y="3017520"/>
            <a:ext cx="2377440" cy="96012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307 completions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Week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4297680"/>
            <a:ext cx="2377440" cy="96012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4.7 / 5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Satisfaction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87878"/>
                </a:solidFill>
              </a:defRPr>
            </a:pPr>
            <a:r>
              <a:t>Simulated portfolio case study | Global Leadership Training Rollout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65D"/>
                </a:solidFill>
              </a:defRPr>
            </a:pPr>
            <a:r>
              <a:t>Change Control &amp; Lessons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1206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7365D"/>
                </a:solidFill>
              </a:defRPr>
            </a:pPr>
            <a:r>
              <a:t>Approved Changes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Approved second EMEA time slot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Extended recording access from 14 to 30 days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Added manager reinforcement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371600"/>
            <a:ext cx="47548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7365D"/>
                </a:solidFill>
              </a:defRPr>
            </a:pPr>
            <a:r>
              <a:t>Lessons Learned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Plan time-zone coverage before participant communications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Prioritize localized content before full review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Maintain backup facilitators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Reconcile LMS enrollment against authoritative participant lists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87878"/>
                </a:solidFill>
              </a:defRPr>
            </a:pPr>
            <a:r>
              <a:t>Simulated portfolio case study | Global Leadership Training Rollout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65D"/>
                </a:solidFill>
              </a:defRPr>
            </a:pPr>
            <a:r>
              <a:t>Closeout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23232"/>
                </a:solidFill>
              </a:defRPr>
            </a:pPr>
            <a:r>
              <a:t>Program objectives were met in the simulated case study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63040"/>
            <a:ext cx="2286000" cy="100584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96.6%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Attendance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463040"/>
            <a:ext cx="2286000" cy="100584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97.6%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Completion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463040"/>
            <a:ext cx="2286000" cy="100584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4.6/5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Satisfaction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1463040"/>
            <a:ext cx="2286000" cy="1005840"/>
          </a:xfrm>
          <a:prstGeom prst="roundRect">
            <a:avLst/>
          </a:prstGeom>
          <a:solidFill>
            <a:srgbClr val="D9EA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365D"/>
                </a:solidFill>
              </a:defRPr>
            </a:pPr>
            <a:r>
              <a:t>+1.3%</a:t>
            </a:r>
          </a:p>
          <a:p>
            <a:pPr algn="ctr">
              <a:defRPr sz="900">
                <a:solidFill>
                  <a:srgbClr val="323232"/>
                </a:solidFill>
              </a:defRPr>
            </a:pPr>
            <a:r>
              <a:t>Budget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1033272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7365D"/>
                </a:solidFill>
              </a:defRPr>
            </a:pPr>
            <a:r>
              <a:t>Project Coordinator contribution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Coordinated global schedules, workstreams, stakeholders, risks, and changes.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Maintained formula-driven Excel reporting and executive status visibility.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Tracked participant delivery metrics and budget performance through closeout.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87878"/>
                </a:solidFill>
              </a:defRPr>
            </a:pPr>
            <a:r>
              <a:t>Simulated portfolio case study | Global Leadership Training Rollout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