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E-Commerce Platform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75B5"/>
                </a:solidFill>
              </a:defRPr>
            </a:pPr>
            <a:r>
              <a:t>Executive Project Update | Portfolio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Launch delivered on baseline date with favorable budget variance and zero open launch blockers.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F75B5"/>
                </a:solidFill>
              </a:defRPr>
            </a:pPr>
            <a:r>
              <a:t>Project Coordinator | Cross-functional delivery | 6-week simulated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Health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75B5"/>
                </a:solidFill>
              </a:defRPr>
            </a:pPr>
            <a:r>
              <a:t>Week 6 - Launch &amp; Hypercare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148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89888"/>
            <a:ext cx="1819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OVERALL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91639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48839"/>
            <a:ext cx="1819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Launch 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280160"/>
            <a:ext cx="2148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1389888"/>
            <a:ext cx="1819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1691639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148839"/>
            <a:ext cx="1819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24 / 24 final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80160"/>
            <a:ext cx="2148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1389888"/>
            <a:ext cx="1819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1691639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148839"/>
            <a:ext cx="1819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Up 100% vs Week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280160"/>
            <a:ext cx="2148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389888"/>
            <a:ext cx="1819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1691639"/>
            <a:ext cx="1819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+1.7%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2148839"/>
            <a:ext cx="1819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Favorable variance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280160"/>
            <a:ext cx="16002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1552" y="138988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BLOCKERS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1691639"/>
            <a:ext cx="1271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2148839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At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0896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Production launch completed August 17 as baselined.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All critical launch-readiness criteria were satisfied before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Hypercare monitoring active with no severity-1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&amp; Delivery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In scope: storefront, catalog, payment integration, UAT, security review, deployment, support readiness, hypercare.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Out of scope: native mobile app, international expansion, second processor at initial launch, long-term optimization.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Delivery gates: Initiate -&gt; Plan -&gt; Build &amp; Configure -&gt; Validate -&gt; Launch -&gt; Hypercare &amp; Close.</a:t>
            </a:r>
          </a:p>
        </p:txBody>
      </p:sp>
      <p:pic>
        <p:nvPicPr>
          <p:cNvPr id="5" name="Picture 4" descr="E-Commerce_Platform_Launch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97680"/>
            <a:ext cx="10332720" cy="25288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691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527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28800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Jul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860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Baseline Jul 8 | 0d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17320"/>
            <a:ext cx="1691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527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1828800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Jul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2860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Baseline Jul 24 | -1d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1691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27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00"/>
                </a:solidFill>
              </a:defRPr>
            </a:pPr>
            <a:r>
              <a:t>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28800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Aug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860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Baseline Jul 31 | +1d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1691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527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00"/>
                </a:solidFill>
              </a:defRPr>
            </a:pPr>
            <a:r>
              <a:t>UAT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828800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Aug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2860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Baseline Aug 7 | +1d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417320"/>
            <a:ext cx="1691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527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28800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Aug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2860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Baseline Aug 14 | 0d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417320"/>
            <a:ext cx="1691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1527048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1828800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Aug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2" y="22860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Baseline Aug 17 | 0d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Schedule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976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</a:defRPr>
            </a:pPr>
            <a:r>
              <a:t>• Two interim milestones moved by one day, but available float protected the August 17 launch baseline.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</a:defRPr>
            </a:pPr>
            <a:r>
              <a:t>• No approved change request required a launch-date rebaseline.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Delivery Performance Trend</a:t>
            </a:r>
          </a:p>
        </p:txBody>
      </p:sp>
      <p:pic>
        <p:nvPicPr>
          <p:cNvPr id="4" name="Picture 3" descr="deliver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86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5544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1F1F"/>
                </a:solidFill>
              </a:defRPr>
            </a:pPr>
            <a:r>
              <a:t>• Task throughput doubled from 12 to 24 completed tasks per week.</a:t>
            </a:r>
          </a:p>
          <a:p>
            <a:pPr>
              <a:spcAft>
                <a:spcPts val="1000"/>
              </a:spcAft>
              <a:defRPr sz="1600">
                <a:solidFill>
                  <a:srgbClr val="1F1F1F"/>
                </a:solidFill>
              </a:defRPr>
            </a:pPr>
            <a:r>
              <a:t>• Velocity increased from 24 to 48 across the six-week delivery period.</a:t>
            </a:r>
          </a:p>
          <a:p>
            <a:pPr>
              <a:spcAft>
                <a:spcPts val="1000"/>
              </a:spcAft>
              <a:defRPr sz="1600">
                <a:solidFill>
                  <a:srgbClr val="1F1F1F"/>
                </a:solidFill>
              </a:defRPr>
            </a:pPr>
            <a:r>
              <a:t>• Final week achieved 100% of planned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Top Risks, Issues &amp;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3716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0000"/>
                </a:solidFill>
              </a:defRPr>
            </a:pPr>
            <a:r>
              <a:t>I-01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645920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03120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Issue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307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</a:defRPr>
            </a:pPr>
            <a:r>
              <a:t>Checkout defects during UAT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691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1F1F"/>
                </a:solidFill>
              </a:defRPr>
            </a:pPr>
            <a:r>
              <a:t>Mitigation tracked to named owner and target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0AD47"/>
                </a:solidFill>
              </a:defRPr>
            </a:pPr>
            <a:r>
              <a:t>CLOSED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13716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87168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0000"/>
                </a:solidFill>
              </a:defRPr>
            </a:pPr>
            <a:r>
              <a:t>D-01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788920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246120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Dependency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450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</a:defRPr>
            </a:pPr>
            <a:r>
              <a:t>Security approval before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834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1F1F"/>
                </a:solidFill>
              </a:defRPr>
            </a:pPr>
            <a:r>
              <a:t>Mitigation tracked to named owner and target 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0AD47"/>
                </a:solidFill>
              </a:defRPr>
            </a:pPr>
            <a: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13716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630168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0000"/>
                </a:solidFill>
              </a:defRPr>
            </a:pPr>
            <a:r>
              <a:t>R-01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931920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89120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Risk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593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</a:defRPr>
            </a:pPr>
            <a:r>
              <a:t>Payment certification delay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97763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1F1F"/>
                </a:solidFill>
              </a:defRPr>
            </a:pPr>
            <a:r>
              <a:t>Mitigation tracked to named owner and target date.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0AD47"/>
                </a:solidFill>
              </a:defRPr>
            </a:pPr>
            <a:r>
              <a:t>CLOSED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63440"/>
            <a:ext cx="13716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4773168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00"/>
                </a:solidFill>
              </a:defRPr>
            </a:pPr>
            <a:r>
              <a:t>R-02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074920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5532120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Risk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736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24D"/>
                </a:solidFill>
              </a:defRPr>
            </a:pPr>
            <a:r>
              <a:t>Catalog data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120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1F1F"/>
                </a:solidFill>
              </a:defRPr>
            </a:pPr>
            <a:r>
              <a:t>Mitigation tracked to named owner and target date.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9377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0AD47"/>
                </a:solidFill>
              </a:defRPr>
            </a:pPr>
            <a:r>
              <a:t>CLOSED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Budget &amp;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9260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35607"/>
            <a:ext cx="2596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F75B5"/>
                </a:solidFill>
              </a:defRPr>
            </a:pPr>
            <a: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$90,000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Excludes $5,000 contingency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25880"/>
            <a:ext cx="29260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6511" y="1435607"/>
            <a:ext cx="2596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1" y="173736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$88,450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1" y="219456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Completed below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25880"/>
            <a:ext cx="29260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435607"/>
            <a:ext cx="2596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73736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+$1,550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19456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1.7% favorable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</a:defRPr>
            </a:pPr>
            <a:r>
              <a:t>• Payment integration exceeded category baseline by $800 due to certification support.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</a:defRPr>
            </a:pPr>
            <a:r>
              <a:t>• Savings in platform development, QA, and hypercare offset the overage.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</a:defRPr>
            </a:pPr>
            <a:r>
              <a:t>• Contingency remained available at project 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Change Control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CR-01 Guest checkout - Approved. Three development days absorbed within schedule float.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CR-02 Second payment processor - Deferred. Estimated two-week impact conflicted with launch baseline.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CR-03 Additional 500 SKUs - Approved as phased upload with enhanced validation controls.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Decision discipline protected the baseline while preserving business value in the post-launch backlog.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Go-Live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291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81328"/>
            <a:ext cx="2962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CRITICAL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8308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0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Readiness criterion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481328"/>
            <a:ext cx="2962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SECURITY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78308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2402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Readiness criterion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291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481328"/>
            <a:ext cx="2962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PAYMENT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78308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2402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Readiness criterion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3291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10128"/>
            <a:ext cx="2962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SUPPORT RUNBOOK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Accepted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0690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Readiness criterion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00400"/>
            <a:ext cx="3291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1" y="3310128"/>
            <a:ext cx="2962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ROLLBACK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1" y="361188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40690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Readiness criterion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200400"/>
            <a:ext cx="32918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3310128"/>
            <a:ext cx="2962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AD47"/>
                </a:solidFill>
              </a:defRPr>
            </a:pPr>
            <a: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61188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40690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1F1F"/>
                </a:solidFill>
              </a:defRPr>
            </a:pPr>
            <a:r>
              <a:t>Readiness criterion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Outcome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Launch completed on August 17 without rebaselining the target date.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Final-week delivery reached 24/24 planned tasks; velocity increased 100% from Week 1.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No launch-blocking issues remained open at go-live; spend finished 1.7% below baseline.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Early dependency booking, daily UAT triage, and integrated tracking were the strongest execution controls.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</a:defRPr>
            </a:pPr>
            <a:r>
              <a:t>• Portfolio note: this is a simulated case study created to demonstrate practical project coordination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